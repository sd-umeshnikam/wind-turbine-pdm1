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4" r:id="rId4"/>
  </p:sldMasterIdLst>
  <p:notesMasterIdLst>
    <p:notesMasterId r:id="rId16"/>
  </p:notesMasterIdLst>
  <p:sldIdLst>
    <p:sldId id="256" r:id="rId5"/>
    <p:sldId id="257" r:id="rId6"/>
    <p:sldId id="258" r:id="rId7"/>
    <p:sldId id="266" r:id="rId8"/>
    <p:sldId id="259" r:id="rId9"/>
    <p:sldId id="260" r:id="rId10"/>
    <p:sldId id="261" r:id="rId11"/>
    <p:sldId id="262" r:id="rId12"/>
    <p:sldId id="263" r:id="rId13"/>
    <p:sldId id="265" r:id="rId14"/>
    <p:sldId id="264" r:id="rId15"/>
  </p:sldIdLst>
  <p:sldSz cx="14631988" cy="8231188"/>
  <p:notesSz cx="6761163" cy="9942513"/>
  <p:embeddedFontLst>
    <p:embeddedFont>
      <p:font typeface="Quattrocento Sans" panose="020B0502050000020003" pitchFamily="34" charset="0"/>
      <p:regular r:id="rId17"/>
    </p:embeddedFont>
    <p:embeddedFont>
      <p:font typeface="Segoe UI" panose="020B0502040204020203" pitchFamily="3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593">
          <p15:clr>
            <a:srgbClr val="A4A3A4"/>
          </p15:clr>
        </p15:guide>
        <p15:guide id="2" pos="4609">
          <p15:clr>
            <a:srgbClr val="A4A3A4"/>
          </p15:clr>
        </p15:guide>
        <p15:guide id="3" pos="7262">
          <p15:clr>
            <a:srgbClr val="A4A3A4"/>
          </p15:clr>
        </p15:guide>
        <p15:guide id="4" pos="273">
          <p15:clr>
            <a:srgbClr val="A4A3A4"/>
          </p15:clr>
        </p15:guide>
        <p15:guide id="5" orient="horz" pos="529">
          <p15:clr>
            <a:srgbClr val="A4A3A4"/>
          </p15:clr>
        </p15:guide>
        <p15:guide id="6" orient="horz" pos="1821">
          <p15:clr>
            <a:srgbClr val="A4A3A4"/>
          </p15:clr>
        </p15:guide>
        <p15:guide id="7" orient="horz" pos="2971">
          <p15:clr>
            <a:srgbClr val="A4A3A4"/>
          </p15:clr>
        </p15:guide>
        <p15:guide id="8" orient="horz" pos="3407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0" roundtripDataSignature="AMtx7miQMoRCNi9ocYZDxsgHlk/BU+aeh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8949F29-844D-AD1D-BF03-A8CAE60A9A23}" name="Umesh Nikam" initials="" userId="S::umesh.nikam@softdel.com::5fee19d9-82ef-4b27-8766-eff6e0932e5e" providerId="AD"/>
  <p188:author id="{F70407D1-607D-E6FD-91D0-E17ECB54BB19}" name="Manoj Kotnala" initials="MK" userId="S::manoj.kotnala@softdel.com::a89eab20-6cc8-4e8f-9498-36023a42fe58" providerId="AD"/>
  <p188:author id="{F42A1FE1-5B39-7EE2-20EB-A82CFFA511C8}" name="Vigneshkumar Sambath" initials="VS" userId="S::vigneshkumar.sambath@softdel.com::5dcf8a5f-1a18-42c8-b425-a273ddff87b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577A"/>
    <a:srgbClr val="5778AE"/>
    <a:srgbClr val="61549C"/>
    <a:srgbClr val="4472C4"/>
    <a:srgbClr val="646EAB"/>
    <a:srgbClr val="30B158"/>
    <a:srgbClr val="4A8CE7"/>
    <a:srgbClr val="BD1E69"/>
    <a:srgbClr val="5EAE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699" dt="2026-10-05T14:12:03.447"/>
    <p1510:client id="{30E625D5-8A9F-DC8D-211C-5C93C51AE2FF}" v="148" dt="2026-10-05T12:03:49.164"/>
    <p1510:client id="{33DB9F50-2544-3621-50E4-59889045D8DE}" v="315" dt="2026-10-06T04:49:47.536"/>
    <p1510:client id="{4F0559CF-19F3-D96B-912A-BAF7A4FE31F1}" v="141" dt="2026-10-06T06:29:28.819"/>
    <p1510:client id="{773713F9-1949-582D-971C-203BF568B042}" v="4" dt="2026-10-05T11:35:03.441"/>
    <p1510:client id="{B131FF70-0E12-4C18-969F-E1E4BEA1FB54}" v="1" dt="2026-10-06T04:33:51.989"/>
    <p1510:client id="{B31982AD-DD78-4204-86D6-95684A153739}" v="83" dt="2026-10-06T07:24:53.3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1013" y="53"/>
      </p:cViewPr>
      <p:guideLst>
        <p:guide orient="horz" pos="2593"/>
        <p:guide pos="4609"/>
        <p:guide pos="7262"/>
        <p:guide pos="273"/>
        <p:guide orient="horz" pos="529"/>
        <p:guide orient="horz" pos="1821"/>
        <p:guide orient="horz" pos="2971"/>
        <p:guide orient="horz" pos="340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2.fntdata"/><Relationship Id="rId3" Type="http://schemas.openxmlformats.org/officeDocument/2006/relationships/customXml" Target="../customXml/item3.xml"/><Relationship Id="rId21" Type="http://schemas.openxmlformats.org/officeDocument/2006/relationships/font" Target="fonts/font5.fntdata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1.fntdata"/><Relationship Id="rId46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41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40" Type="http://customschemas.google.com/relationships/presentationmetadata" Target="metadata"/><Relationship Id="rId45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font" Target="fonts/font3.fntdata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4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29837" cy="497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29761" y="0"/>
            <a:ext cx="2929837" cy="497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263" y="746125"/>
            <a:ext cx="6624637" cy="3727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6117" y="4722694"/>
            <a:ext cx="5408930" cy="4474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443662"/>
            <a:ext cx="2929837" cy="497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29761" y="9443662"/>
            <a:ext cx="2929837" cy="497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708343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8_Cover Slide" preserve="1">
  <p:cSld name="8_Cover Slide opt">
    <p:bg>
      <p:bgPr>
        <a:solidFill>
          <a:schemeClr val="lt1">
            <a:alpha val="40000"/>
          </a:schemeClr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57DA3647-08F3-4401-9E83-78A9CB298A6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9367" r="9367"/>
          <a:stretch/>
        </p:blipFill>
        <p:spPr>
          <a:xfrm>
            <a:off x="5713072" y="0"/>
            <a:ext cx="8918916" cy="8231189"/>
          </a:xfrm>
          <a:prstGeom prst="rect">
            <a:avLst/>
          </a:prstGeom>
        </p:spPr>
      </p:pic>
      <p:sp>
        <p:nvSpPr>
          <p:cNvPr id="16" name="Google Shape;205;p3">
            <a:extLst>
              <a:ext uri="{FF2B5EF4-FFF2-40B4-BE49-F238E27FC236}">
                <a16:creationId xmlns:a16="http://schemas.microsoft.com/office/drawing/2014/main" id="{60BB23C8-1EEB-4F65-A5FB-CB301D01E259}"/>
              </a:ext>
            </a:extLst>
          </p:cNvPr>
          <p:cNvSpPr/>
          <p:nvPr userDrawn="1"/>
        </p:nvSpPr>
        <p:spPr>
          <a:xfrm>
            <a:off x="0" y="1588"/>
            <a:ext cx="5713072" cy="8229600"/>
          </a:xfrm>
          <a:prstGeom prst="rect">
            <a:avLst/>
          </a:prstGeom>
          <a:solidFill>
            <a:srgbClr val="0070C0">
              <a:alpha val="89803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120" b="0" i="0" u="none" strike="noStrike" cap="none">
              <a:solidFill>
                <a:srgbClr val="BD1E69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62803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pos="4608">
          <p15:clr>
            <a:srgbClr val="FBAE40"/>
          </p15:clr>
        </p15:guide>
        <p15:guide id="3" pos="22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8_Cover Slide" preserve="1" userDrawn="1">
  <p:cSld name="10_Cover Slide">
    <p:bg>
      <p:bgPr>
        <a:solidFill>
          <a:schemeClr val="lt1">
            <a:alpha val="40000"/>
          </a:schemeClr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6C6D2B-3149-1405-F97E-D031C514AB5D}"/>
              </a:ext>
            </a:extLst>
          </p:cNvPr>
          <p:cNvSpPr/>
          <p:nvPr userDrawn="1"/>
        </p:nvSpPr>
        <p:spPr>
          <a:xfrm>
            <a:off x="0" y="4779265"/>
            <a:ext cx="14628308" cy="3451924"/>
          </a:xfrm>
          <a:prstGeom prst="rect">
            <a:avLst/>
          </a:prstGeom>
          <a:gradFill flip="none" rotWithShape="1">
            <a:gsLst>
              <a:gs pos="36000">
                <a:srgbClr val="2453CB"/>
              </a:gs>
              <a:gs pos="100000">
                <a:srgbClr val="00B0F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" name="Picture 2" descr="A blue background with dots and lines&#10;&#10;Description automatically generated">
            <a:extLst>
              <a:ext uri="{FF2B5EF4-FFF2-40B4-BE49-F238E27FC236}">
                <a16:creationId xmlns:a16="http://schemas.microsoft.com/office/drawing/2014/main" id="{86BF0B59-7D93-100D-8D76-CE319C642C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45633" r="-1" b="12413"/>
          <a:stretch/>
        </p:blipFill>
        <p:spPr>
          <a:xfrm>
            <a:off x="0" y="4779264"/>
            <a:ext cx="14559280" cy="3451923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F3523090-AA53-AA15-39F1-2C2D0193546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7685" y="577333"/>
            <a:ext cx="1828800" cy="629411"/>
          </a:xfrm>
          <a:prstGeom prst="rect">
            <a:avLst/>
          </a:prstGeom>
        </p:spPr>
      </p:pic>
      <p:sp>
        <p:nvSpPr>
          <p:cNvPr id="5" name="Title 11">
            <a:extLst>
              <a:ext uri="{FF2B5EF4-FFF2-40B4-BE49-F238E27FC236}">
                <a16:creationId xmlns:a16="http://schemas.microsoft.com/office/drawing/2014/main" id="{81D46FF9-4CFB-4DEE-2904-3B6504CE0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028" y="2115843"/>
            <a:ext cx="13168789" cy="1794612"/>
          </a:xfrm>
          <a:ln>
            <a:noFill/>
          </a:ln>
        </p:spPr>
        <p:txBody>
          <a:bodyPr vert="horz" lIns="0" tIns="0" rIns="0" bIns="0" rtlCol="0" anchor="ctr" anchorCtr="0">
            <a:noAutofit/>
          </a:bodyPr>
          <a:lstStyle>
            <a:lvl1pPr>
              <a:defRPr lang="en-IN" sz="48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  <a:sym typeface="Arial"/>
              </a:defRPr>
            </a:lvl1pPr>
          </a:lstStyle>
          <a:p>
            <a:pPr lvl="0" defTabSz="761878" eaLnBrk="1" latinLnBrk="0" hangingPunct="1">
              <a:spcBef>
                <a:spcPct val="0"/>
              </a:spcBef>
              <a:buClr>
                <a:srgbClr val="000000"/>
              </a:buClr>
              <a:buFont typeface="Arial"/>
            </a:pPr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94830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pos="4608">
          <p15:clr>
            <a:srgbClr val="FBAE40"/>
          </p15:clr>
        </p15:guide>
        <p15:guide id="3" pos="223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9_Cover Slide">
  <p:cSld name="9_Cover Slide">
    <p:bg>
      <p:bgPr>
        <a:solidFill>
          <a:schemeClr val="lt1">
            <a:alpha val="40000"/>
          </a:schemeClr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2"/>
          <p:cNvSpPr/>
          <p:nvPr/>
        </p:nvSpPr>
        <p:spPr>
          <a:xfrm>
            <a:off x="0" y="0"/>
            <a:ext cx="5405718" cy="8234839"/>
          </a:xfrm>
          <a:prstGeom prst="rect">
            <a:avLst/>
          </a:prstGeom>
          <a:solidFill>
            <a:srgbClr val="0C0C0C">
              <a:alpha val="71764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12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8" name="Google Shape;98;p32"/>
          <p:cNvSpPr txBox="1"/>
          <p:nvPr/>
        </p:nvSpPr>
        <p:spPr>
          <a:xfrm>
            <a:off x="161408" y="3526678"/>
            <a:ext cx="4501899" cy="766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Quattrocento Sans"/>
              <a:buNone/>
            </a:pPr>
            <a:r>
              <a:rPr lang="en-US" sz="4000" b="1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Together we</a:t>
            </a:r>
            <a:br>
              <a:rPr lang="en-US" sz="4000" b="1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</a:br>
            <a:r>
              <a:rPr lang="en-US" sz="4000" b="1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innovate faster. </a:t>
            </a:r>
            <a:endParaRPr sz="4000" b="1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9" name="Google Shape;99;p32"/>
          <p:cNvSpPr txBox="1"/>
          <p:nvPr/>
        </p:nvSpPr>
        <p:spPr>
          <a:xfrm>
            <a:off x="255537" y="4293441"/>
            <a:ext cx="4341643" cy="328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50"/>
              <a:buFont typeface="Arial"/>
              <a:buNone/>
            </a:pPr>
            <a:r>
              <a:rPr lang="en-US" sz="1850">
                <a:solidFill>
                  <a:schemeClr val="lt1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Softdel Group Corporate Presentation</a:t>
            </a:r>
            <a:endParaRPr sz="185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100" name="Google Shape;100;p3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9024" y="237285"/>
            <a:ext cx="1943100" cy="77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32"/>
          <p:cNvSpPr txBox="1"/>
          <p:nvPr/>
        </p:nvSpPr>
        <p:spPr>
          <a:xfrm>
            <a:off x="239983" y="7412943"/>
            <a:ext cx="3951313" cy="419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25" tIns="54850" rIns="109725" bIns="5485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August 25, 2020</a:t>
            </a:r>
            <a:endParaRPr sz="16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323787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pos="4608">
          <p15:clr>
            <a:srgbClr val="FBAE40"/>
          </p15:clr>
        </p15:guide>
        <p15:guide id="3" pos="223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ontent Slide" preserve="1" userDrawn="1">
  <p:cSld name="3_Content Slide opt 2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15;p35">
            <a:extLst>
              <a:ext uri="{FF2B5EF4-FFF2-40B4-BE49-F238E27FC236}">
                <a16:creationId xmlns:a16="http://schemas.microsoft.com/office/drawing/2014/main" id="{FCB5A0C3-CBCB-8B4F-865E-4141AC42592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-4109" y="7735094"/>
            <a:ext cx="14636097" cy="5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17;p35">
            <a:extLst>
              <a:ext uri="{FF2B5EF4-FFF2-40B4-BE49-F238E27FC236}">
                <a16:creationId xmlns:a16="http://schemas.microsoft.com/office/drawing/2014/main" id="{C5258E1D-9F59-DB46-B672-1C97928531CF}"/>
              </a:ext>
            </a:extLst>
          </p:cNvPr>
          <p:cNvSpPr txBox="1"/>
          <p:nvPr userDrawn="1"/>
        </p:nvSpPr>
        <p:spPr>
          <a:xfrm>
            <a:off x="11782087" y="7838822"/>
            <a:ext cx="192024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Quattrocento Sans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 panose="020F0502020204030204" pitchFamily="34" charset="0"/>
                <a:ea typeface="Quattrocento Sans"/>
                <a:cs typeface="Calibri" panose="020F0502020204030204" pitchFamily="34" charset="0"/>
                <a:sym typeface="Quattrocento Sans"/>
              </a:rPr>
              <a:t>Document Name</a:t>
            </a:r>
            <a:endParaRPr sz="1400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Quattrocento Sans"/>
              <a:cs typeface="Calibri" panose="020F0502020204030204" pitchFamily="34" charset="0"/>
              <a:sym typeface="Quattrocento Sans"/>
            </a:endParaRPr>
          </a:p>
        </p:txBody>
      </p:sp>
      <p:cxnSp>
        <p:nvCxnSpPr>
          <p:cNvPr id="11" name="Google Shape;118;p35">
            <a:extLst>
              <a:ext uri="{FF2B5EF4-FFF2-40B4-BE49-F238E27FC236}">
                <a16:creationId xmlns:a16="http://schemas.microsoft.com/office/drawing/2014/main" id="{1C5D379F-1CA3-0B4E-90E0-923DA4E18567}"/>
              </a:ext>
            </a:extLst>
          </p:cNvPr>
          <p:cNvCxnSpPr/>
          <p:nvPr userDrawn="1"/>
        </p:nvCxnSpPr>
        <p:spPr>
          <a:xfrm rot="5400000">
            <a:off x="13694858" y="7989692"/>
            <a:ext cx="288000" cy="1588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19;p35">
            <a:extLst>
              <a:ext uri="{FF2B5EF4-FFF2-40B4-BE49-F238E27FC236}">
                <a16:creationId xmlns:a16="http://schemas.microsoft.com/office/drawing/2014/main" id="{9C2A2F0D-77A9-1E41-AF52-E0DF2B120447}"/>
              </a:ext>
            </a:extLst>
          </p:cNvPr>
          <p:cNvSpPr txBox="1"/>
          <p:nvPr userDrawn="1"/>
        </p:nvSpPr>
        <p:spPr>
          <a:xfrm>
            <a:off x="13901775" y="7838822"/>
            <a:ext cx="64008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>
                <a:solidFill>
                  <a:schemeClr val="lt1"/>
                </a:solidFill>
                <a:latin typeface="Calibri" panose="020F0502020204030204" pitchFamily="34" charset="0"/>
                <a:ea typeface="Quattrocento Sans"/>
                <a:cs typeface="Calibri" panose="020F0502020204030204" pitchFamily="34" charset="0"/>
                <a:sym typeface="Quattrocento Sans"/>
              </a:rPr>
              <a:t>‹#›</a:t>
            </a:fld>
            <a:endParaRPr sz="1400">
              <a:solidFill>
                <a:schemeClr val="lt1"/>
              </a:solidFill>
              <a:latin typeface="Calibri" panose="020F0502020204030204" pitchFamily="34" charset="0"/>
              <a:ea typeface="Quattrocento Sans"/>
              <a:cs typeface="Calibri" panose="020F0502020204030204" pitchFamily="34" charset="0"/>
              <a:sym typeface="Quattrocento Sans"/>
            </a:endParaRPr>
          </a:p>
        </p:txBody>
      </p:sp>
      <p:pic>
        <p:nvPicPr>
          <p:cNvPr id="2" name="Picture 1" descr="A picture containing graphics, font, graphic design, logo&#10;&#10;Description automatically generated">
            <a:extLst>
              <a:ext uri="{FF2B5EF4-FFF2-40B4-BE49-F238E27FC236}">
                <a16:creationId xmlns:a16="http://schemas.microsoft.com/office/drawing/2014/main" id="{6A6A2EAE-3CF3-733B-627F-A9A3C809B63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500310" y="49878"/>
            <a:ext cx="2022852" cy="100560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E76A36C-42FD-763B-B58F-FDC4CEB1894D}"/>
              </a:ext>
            </a:extLst>
          </p:cNvPr>
          <p:cNvSpPr/>
          <p:nvPr userDrawn="1"/>
        </p:nvSpPr>
        <p:spPr>
          <a:xfrm rot="16200000">
            <a:off x="949057" y="476213"/>
            <a:ext cx="63316" cy="871338"/>
          </a:xfrm>
          <a:prstGeom prst="rect">
            <a:avLst/>
          </a:prstGeom>
          <a:solidFill>
            <a:srgbClr val="646EA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39421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Content Slide">
  <p:cSld name="7_Content Slide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15;p35">
            <a:extLst>
              <a:ext uri="{FF2B5EF4-FFF2-40B4-BE49-F238E27FC236}">
                <a16:creationId xmlns:a16="http://schemas.microsoft.com/office/drawing/2014/main" id="{38646BB8-968F-8947-A7C4-4B978CADE9A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-4109" y="7735094"/>
            <a:ext cx="14636097" cy="5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17;p35">
            <a:extLst>
              <a:ext uri="{FF2B5EF4-FFF2-40B4-BE49-F238E27FC236}">
                <a16:creationId xmlns:a16="http://schemas.microsoft.com/office/drawing/2014/main" id="{DE089C6D-1D9D-B342-A27B-2FB8D24F316A}"/>
              </a:ext>
            </a:extLst>
          </p:cNvPr>
          <p:cNvSpPr txBox="1"/>
          <p:nvPr userDrawn="1"/>
        </p:nvSpPr>
        <p:spPr>
          <a:xfrm>
            <a:off x="11782087" y="7838822"/>
            <a:ext cx="192024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Quattrocento Sans"/>
              <a:buNone/>
            </a:pPr>
            <a:r>
              <a:rPr lang="en-US" sz="1400" b="0" i="0" u="none" strike="noStrike" cap="none" err="1">
                <a:solidFill>
                  <a:schemeClr val="lt1"/>
                </a:solidFill>
                <a:latin typeface="Calibri" panose="020F0502020204030204" pitchFamily="34" charset="0"/>
                <a:ea typeface="Quattrocento Sans"/>
                <a:cs typeface="Calibri" panose="020F0502020204030204" pitchFamily="34" charset="0"/>
                <a:sym typeface="Quattrocento Sans"/>
              </a:rPr>
              <a:t>Softdel</a:t>
            </a:r>
            <a:r>
              <a:rPr lang="en-US" sz="1400" b="0" i="0" u="none" strike="noStrike" cap="none">
                <a:solidFill>
                  <a:schemeClr val="lt1"/>
                </a:solidFill>
                <a:latin typeface="Calibri" panose="020F0502020204030204" pitchFamily="34" charset="0"/>
                <a:ea typeface="Quattrocento Sans"/>
                <a:cs typeface="Calibri" panose="020F0502020204030204" pitchFamily="34" charset="0"/>
                <a:sym typeface="Quattrocento Sans"/>
              </a:rPr>
              <a:t> confidential</a:t>
            </a:r>
            <a:endParaRPr sz="1400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Quattrocento Sans"/>
              <a:cs typeface="Calibri" panose="020F0502020204030204" pitchFamily="34" charset="0"/>
              <a:sym typeface="Quattrocento Sans"/>
            </a:endParaRPr>
          </a:p>
        </p:txBody>
      </p:sp>
      <p:cxnSp>
        <p:nvCxnSpPr>
          <p:cNvPr id="11" name="Google Shape;118;p35">
            <a:extLst>
              <a:ext uri="{FF2B5EF4-FFF2-40B4-BE49-F238E27FC236}">
                <a16:creationId xmlns:a16="http://schemas.microsoft.com/office/drawing/2014/main" id="{840086F3-F3E7-C54F-98E9-F54691CCC953}"/>
              </a:ext>
            </a:extLst>
          </p:cNvPr>
          <p:cNvCxnSpPr/>
          <p:nvPr userDrawn="1"/>
        </p:nvCxnSpPr>
        <p:spPr>
          <a:xfrm rot="5400000">
            <a:off x="13694858" y="7989692"/>
            <a:ext cx="288000" cy="1588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19;p35">
            <a:extLst>
              <a:ext uri="{FF2B5EF4-FFF2-40B4-BE49-F238E27FC236}">
                <a16:creationId xmlns:a16="http://schemas.microsoft.com/office/drawing/2014/main" id="{5E7A2547-6EC5-E443-8567-DCBC943A6E20}"/>
              </a:ext>
            </a:extLst>
          </p:cNvPr>
          <p:cNvSpPr txBox="1"/>
          <p:nvPr userDrawn="1"/>
        </p:nvSpPr>
        <p:spPr>
          <a:xfrm>
            <a:off x="13901775" y="7838822"/>
            <a:ext cx="64008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>
                <a:solidFill>
                  <a:schemeClr val="lt1"/>
                </a:solidFill>
                <a:latin typeface="Calibri" panose="020F0502020204030204" pitchFamily="34" charset="0"/>
                <a:ea typeface="Quattrocento Sans"/>
                <a:cs typeface="Calibri" panose="020F0502020204030204" pitchFamily="34" charset="0"/>
                <a:sym typeface="Quattrocento Sans"/>
              </a:rPr>
              <a:t>‹#›</a:t>
            </a:fld>
            <a:endParaRPr sz="1400">
              <a:solidFill>
                <a:schemeClr val="lt1"/>
              </a:solidFill>
              <a:latin typeface="Calibri" panose="020F0502020204030204" pitchFamily="34" charset="0"/>
              <a:ea typeface="Quattrocento Sans"/>
              <a:cs typeface="Calibri" panose="020F0502020204030204" pitchFamily="34" charset="0"/>
              <a:sym typeface="Quattrocento Sans"/>
            </a:endParaRPr>
          </a:p>
        </p:txBody>
      </p:sp>
      <p:sp>
        <p:nvSpPr>
          <p:cNvPr id="53" name="Google Shape;53;p27"/>
          <p:cNvSpPr/>
          <p:nvPr/>
        </p:nvSpPr>
        <p:spPr>
          <a:xfrm>
            <a:off x="0" y="0"/>
            <a:ext cx="14631987" cy="102559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4" name="Google Shape;54;p27"/>
          <p:cNvSpPr txBox="1">
            <a:spLocks noGrp="1"/>
          </p:cNvSpPr>
          <p:nvPr>
            <p:ph type="ctrTitle"/>
          </p:nvPr>
        </p:nvSpPr>
        <p:spPr>
          <a:xfrm>
            <a:off x="267493" y="305594"/>
            <a:ext cx="14044251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" name="Google Shape;55;p27">
            <a:extLst>
              <a:ext uri="{FF2B5EF4-FFF2-40B4-BE49-F238E27FC236}">
                <a16:creationId xmlns:a16="http://schemas.microsoft.com/office/drawing/2014/main" id="{BEF431FE-AFAE-6062-69CE-E25233A87EDC}"/>
              </a:ext>
            </a:extLst>
          </p:cNvPr>
          <p:cNvPicPr preferRelativeResize="0"/>
          <p:nvPr userDrawn="1"/>
        </p:nvPicPr>
        <p:blipFill>
          <a:blip r:embed="rId3"/>
          <a:srcRect/>
          <a:stretch/>
        </p:blipFill>
        <p:spPr>
          <a:xfrm>
            <a:off x="334464" y="7666382"/>
            <a:ext cx="640080" cy="6400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63015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Content Slide">
  <p:cSld name="5_Content Slide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5"/>
          <p:cNvSpPr txBox="1">
            <a:spLocks noGrp="1"/>
          </p:cNvSpPr>
          <p:nvPr>
            <p:ph type="ctrTitle"/>
          </p:nvPr>
        </p:nvSpPr>
        <p:spPr>
          <a:xfrm>
            <a:off x="267494" y="305594"/>
            <a:ext cx="12646152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35"/>
          <p:cNvSpPr/>
          <p:nvPr/>
        </p:nvSpPr>
        <p:spPr>
          <a:xfrm>
            <a:off x="465457" y="1067944"/>
            <a:ext cx="1618074" cy="48919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600">
              <a:solidFill>
                <a:schemeClr val="lt1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pic>
        <p:nvPicPr>
          <p:cNvPr id="9" name="Google Shape;115;p35">
            <a:extLst>
              <a:ext uri="{FF2B5EF4-FFF2-40B4-BE49-F238E27FC236}">
                <a16:creationId xmlns:a16="http://schemas.microsoft.com/office/drawing/2014/main" id="{F31F3E87-1FF7-2042-8474-A799DF071EB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-4109" y="7735094"/>
            <a:ext cx="14636097" cy="5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17;p35">
            <a:extLst>
              <a:ext uri="{FF2B5EF4-FFF2-40B4-BE49-F238E27FC236}">
                <a16:creationId xmlns:a16="http://schemas.microsoft.com/office/drawing/2014/main" id="{798D72CE-232B-D741-8A7D-58FB4D5B139F}"/>
              </a:ext>
            </a:extLst>
          </p:cNvPr>
          <p:cNvSpPr txBox="1"/>
          <p:nvPr userDrawn="1"/>
        </p:nvSpPr>
        <p:spPr>
          <a:xfrm>
            <a:off x="11782087" y="7838822"/>
            <a:ext cx="192024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Quattrocento Sans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 panose="020F0502020204030204" pitchFamily="34" charset="0"/>
                <a:ea typeface="Quattrocento Sans"/>
                <a:cs typeface="Calibri" panose="020F0502020204030204" pitchFamily="34" charset="0"/>
                <a:sym typeface="Quattrocento Sans"/>
              </a:rPr>
              <a:t>Softdel confidential</a:t>
            </a:r>
            <a:endParaRPr sz="1400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Quattrocento Sans"/>
              <a:cs typeface="Calibri" panose="020F0502020204030204" pitchFamily="34" charset="0"/>
              <a:sym typeface="Quattrocento Sans"/>
            </a:endParaRPr>
          </a:p>
        </p:txBody>
      </p:sp>
      <p:cxnSp>
        <p:nvCxnSpPr>
          <p:cNvPr id="11" name="Google Shape;118;p35">
            <a:extLst>
              <a:ext uri="{FF2B5EF4-FFF2-40B4-BE49-F238E27FC236}">
                <a16:creationId xmlns:a16="http://schemas.microsoft.com/office/drawing/2014/main" id="{CE08417B-EDE5-1D47-8955-13487EF964EE}"/>
              </a:ext>
            </a:extLst>
          </p:cNvPr>
          <p:cNvCxnSpPr/>
          <p:nvPr userDrawn="1"/>
        </p:nvCxnSpPr>
        <p:spPr>
          <a:xfrm rot="5400000">
            <a:off x="13694858" y="7989692"/>
            <a:ext cx="288000" cy="1588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19;p35">
            <a:extLst>
              <a:ext uri="{FF2B5EF4-FFF2-40B4-BE49-F238E27FC236}">
                <a16:creationId xmlns:a16="http://schemas.microsoft.com/office/drawing/2014/main" id="{E4E6F149-7C3D-4447-8F39-C7462A735B7B}"/>
              </a:ext>
            </a:extLst>
          </p:cNvPr>
          <p:cNvSpPr txBox="1"/>
          <p:nvPr userDrawn="1"/>
        </p:nvSpPr>
        <p:spPr>
          <a:xfrm>
            <a:off x="13901775" y="7838822"/>
            <a:ext cx="64008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>
                <a:solidFill>
                  <a:schemeClr val="lt1"/>
                </a:solidFill>
                <a:latin typeface="Calibri" panose="020F0502020204030204" pitchFamily="34" charset="0"/>
                <a:ea typeface="Quattrocento Sans"/>
                <a:cs typeface="Calibri" panose="020F0502020204030204" pitchFamily="34" charset="0"/>
                <a:sym typeface="Quattrocento Sans"/>
              </a:rPr>
              <a:t>‹#›</a:t>
            </a:fld>
            <a:endParaRPr sz="1400">
              <a:solidFill>
                <a:schemeClr val="lt1"/>
              </a:solidFill>
              <a:latin typeface="Calibri" panose="020F0502020204030204" pitchFamily="34" charset="0"/>
              <a:ea typeface="Quattrocento Sans"/>
              <a:cs typeface="Calibri" panose="020F0502020204030204" pitchFamily="34" charset="0"/>
              <a:sym typeface="Quattrocento Sans"/>
            </a:endParaRPr>
          </a:p>
        </p:txBody>
      </p:sp>
      <p:pic>
        <p:nvPicPr>
          <p:cNvPr id="2" name="Google Shape;55;p27">
            <a:extLst>
              <a:ext uri="{FF2B5EF4-FFF2-40B4-BE49-F238E27FC236}">
                <a16:creationId xmlns:a16="http://schemas.microsoft.com/office/drawing/2014/main" id="{504F139D-9F30-EBF0-FEAA-5F12923B3675}"/>
              </a:ext>
            </a:extLst>
          </p:cNvPr>
          <p:cNvPicPr preferRelativeResize="0"/>
          <p:nvPr userDrawn="1"/>
        </p:nvPicPr>
        <p:blipFill>
          <a:blip r:embed="rId3"/>
          <a:srcRect/>
          <a:stretch/>
        </p:blipFill>
        <p:spPr>
          <a:xfrm>
            <a:off x="289581" y="7677812"/>
            <a:ext cx="640080" cy="6400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6426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_Content Slide">
  <p:cSld name="10_Content Slide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15;p35">
            <a:extLst>
              <a:ext uri="{FF2B5EF4-FFF2-40B4-BE49-F238E27FC236}">
                <a16:creationId xmlns:a16="http://schemas.microsoft.com/office/drawing/2014/main" id="{703F92A6-7932-F648-B650-3D7803867AC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-4109" y="7735094"/>
            <a:ext cx="14636097" cy="5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7;p35">
            <a:extLst>
              <a:ext uri="{FF2B5EF4-FFF2-40B4-BE49-F238E27FC236}">
                <a16:creationId xmlns:a16="http://schemas.microsoft.com/office/drawing/2014/main" id="{B69636A6-ABDB-6D41-9386-3DDBE2EFB745}"/>
              </a:ext>
            </a:extLst>
          </p:cNvPr>
          <p:cNvSpPr txBox="1"/>
          <p:nvPr userDrawn="1"/>
        </p:nvSpPr>
        <p:spPr>
          <a:xfrm>
            <a:off x="11782087" y="7838822"/>
            <a:ext cx="192024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Quattrocento Sans"/>
              <a:buNone/>
            </a:pPr>
            <a:r>
              <a:rPr lang="en-US" sz="1400" b="0" i="0" u="none" strike="noStrike" cap="none">
                <a:solidFill>
                  <a:schemeClr val="lt1"/>
                </a:solidFill>
                <a:latin typeface="Calibri" panose="020F0502020204030204" pitchFamily="34" charset="0"/>
                <a:ea typeface="Quattrocento Sans"/>
                <a:cs typeface="Calibri" panose="020F0502020204030204" pitchFamily="34" charset="0"/>
                <a:sym typeface="Quattrocento Sans"/>
              </a:rPr>
              <a:t>Softdel confidential</a:t>
            </a:r>
            <a:endParaRPr sz="1400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Quattrocento Sans"/>
              <a:cs typeface="Calibri" panose="020F0502020204030204" pitchFamily="34" charset="0"/>
              <a:sym typeface="Quattrocento Sans"/>
            </a:endParaRPr>
          </a:p>
        </p:txBody>
      </p:sp>
      <p:cxnSp>
        <p:nvCxnSpPr>
          <p:cNvPr id="12" name="Google Shape;118;p35">
            <a:extLst>
              <a:ext uri="{FF2B5EF4-FFF2-40B4-BE49-F238E27FC236}">
                <a16:creationId xmlns:a16="http://schemas.microsoft.com/office/drawing/2014/main" id="{003A3905-0C25-0C4F-8C7A-052F0A314F36}"/>
              </a:ext>
            </a:extLst>
          </p:cNvPr>
          <p:cNvCxnSpPr/>
          <p:nvPr userDrawn="1"/>
        </p:nvCxnSpPr>
        <p:spPr>
          <a:xfrm rot="5400000">
            <a:off x="13694858" y="7989692"/>
            <a:ext cx="288000" cy="1588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19;p35">
            <a:extLst>
              <a:ext uri="{FF2B5EF4-FFF2-40B4-BE49-F238E27FC236}">
                <a16:creationId xmlns:a16="http://schemas.microsoft.com/office/drawing/2014/main" id="{76B6DC40-A3F8-1942-8753-88E6DF480675}"/>
              </a:ext>
            </a:extLst>
          </p:cNvPr>
          <p:cNvSpPr txBox="1"/>
          <p:nvPr userDrawn="1"/>
        </p:nvSpPr>
        <p:spPr>
          <a:xfrm>
            <a:off x="13901775" y="7838822"/>
            <a:ext cx="64008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>
                <a:solidFill>
                  <a:schemeClr val="lt1"/>
                </a:solidFill>
                <a:latin typeface="Calibri" panose="020F0502020204030204" pitchFamily="34" charset="0"/>
                <a:ea typeface="Quattrocento Sans"/>
                <a:cs typeface="Calibri" panose="020F0502020204030204" pitchFamily="34" charset="0"/>
                <a:sym typeface="Quattrocento Sans"/>
              </a:rPr>
              <a:t>‹#›</a:t>
            </a:fld>
            <a:endParaRPr sz="1400">
              <a:solidFill>
                <a:schemeClr val="lt1"/>
              </a:solidFill>
              <a:latin typeface="Calibri" panose="020F0502020204030204" pitchFamily="34" charset="0"/>
              <a:ea typeface="Quattrocento Sans"/>
              <a:cs typeface="Calibri" panose="020F0502020204030204" pitchFamily="34" charset="0"/>
              <a:sym typeface="Quattrocento Sans"/>
            </a:endParaRPr>
          </a:p>
        </p:txBody>
      </p:sp>
      <p:pic>
        <p:nvPicPr>
          <p:cNvPr id="2" name="Google Shape;55;p27">
            <a:extLst>
              <a:ext uri="{FF2B5EF4-FFF2-40B4-BE49-F238E27FC236}">
                <a16:creationId xmlns:a16="http://schemas.microsoft.com/office/drawing/2014/main" id="{F0FF0D42-0519-B241-0A42-653E344907A1}"/>
              </a:ext>
            </a:extLst>
          </p:cNvPr>
          <p:cNvPicPr preferRelativeResize="0"/>
          <p:nvPr userDrawn="1"/>
        </p:nvPicPr>
        <p:blipFill>
          <a:blip r:embed="rId3"/>
          <a:srcRect/>
          <a:stretch/>
        </p:blipFill>
        <p:spPr>
          <a:xfrm>
            <a:off x="289581" y="7666382"/>
            <a:ext cx="640080" cy="6400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46169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150;p40">
            <a:extLst>
              <a:ext uri="{FF2B5EF4-FFF2-40B4-BE49-F238E27FC236}">
                <a16:creationId xmlns:a16="http://schemas.microsoft.com/office/drawing/2014/main" id="{C92AF730-AA8A-7640-AD44-F38CB6337D16}"/>
              </a:ext>
            </a:extLst>
          </p:cNvPr>
          <p:cNvSpPr/>
          <p:nvPr userDrawn="1"/>
        </p:nvSpPr>
        <p:spPr>
          <a:xfrm>
            <a:off x="0" y="0"/>
            <a:ext cx="14631988" cy="82311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600">
              <a:solidFill>
                <a:srgbClr val="4472C4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" name="Google Shape;151;p40">
            <a:extLst>
              <a:ext uri="{FF2B5EF4-FFF2-40B4-BE49-F238E27FC236}">
                <a16:creationId xmlns:a16="http://schemas.microsoft.com/office/drawing/2014/main" id="{D1A204A6-1000-2443-8585-6FF368E493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9994" y="3353594"/>
            <a:ext cx="9792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b" anchorCtr="0">
            <a:noAutofit/>
          </a:bodyPr>
          <a:lstStyle>
            <a:lvl1pPr marL="457200" lvl="0" indent="-228600" algn="ctr">
              <a:spcBef>
                <a:spcPts val="680"/>
              </a:spcBef>
              <a:spcAft>
                <a:spcPts val="0"/>
              </a:spcAft>
              <a:buClr>
                <a:srgbClr val="0070C0"/>
              </a:buClr>
              <a:buSzPts val="3400"/>
              <a:buFont typeface="Calibri"/>
              <a:buNone/>
              <a:defRPr sz="36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03849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43FF0B7E-46E6-4C54-AB00-AF867F61CE7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4108" y="7735096"/>
            <a:ext cx="14636097" cy="504000"/>
          </a:xfrm>
          <a:prstGeom prst="rect">
            <a:avLst/>
          </a:prstGeom>
        </p:spPr>
      </p:pic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77BA415E-DB0E-4E43-A2FB-AF62FA57D0C6}"/>
              </a:ext>
            </a:extLst>
          </p:cNvPr>
          <p:cNvSpPr txBox="1">
            <a:spLocks/>
          </p:cNvSpPr>
          <p:nvPr userDrawn="1"/>
        </p:nvSpPr>
        <p:spPr>
          <a:xfrm>
            <a:off x="11782087" y="7838823"/>
            <a:ext cx="1920240" cy="295201"/>
          </a:xfrm>
          <a:prstGeom prst="rect">
            <a:avLst/>
          </a:prstGeom>
        </p:spPr>
        <p:txBody>
          <a:bodyPr vert="horz" lIns="130619" tIns="65310" rIns="130619" bIns="65310" rtlCol="0" anchor="ctr"/>
          <a:lstStyle>
            <a:lvl1pPr algn="ctr">
              <a:defRPr sz="1400">
                <a:solidFill>
                  <a:schemeClr val="bg1"/>
                </a:solidFill>
                <a:latin typeface="Segoe UI" pitchFamily="34" charset="0"/>
                <a:cs typeface="Segoe UI" pitchFamily="34" charset="0"/>
              </a:defRPr>
            </a:lvl1pPr>
          </a:lstStyle>
          <a:p>
            <a:pPr marL="0" marR="0" lvl="0" indent="0" algn="ctr" defTabSz="130620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99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0"/>
              </a:rPr>
              <a:t>Softdel confidential</a:t>
            </a:r>
            <a:endParaRPr kumimoji="0" lang="en-US" sz="1399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860B11-EA33-4DE3-8CF5-92BC2FFDDF2C}"/>
              </a:ext>
            </a:extLst>
          </p:cNvPr>
          <p:cNvCxnSpPr/>
          <p:nvPr userDrawn="1"/>
        </p:nvCxnSpPr>
        <p:spPr>
          <a:xfrm rot="5400000">
            <a:off x="13694857" y="7989692"/>
            <a:ext cx="288000" cy="1588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21604451-E017-41BE-83C0-7F89D371FA58}"/>
              </a:ext>
            </a:extLst>
          </p:cNvPr>
          <p:cNvSpPr txBox="1"/>
          <p:nvPr userDrawn="1"/>
        </p:nvSpPr>
        <p:spPr>
          <a:xfrm>
            <a:off x="13901775" y="7838824"/>
            <a:ext cx="640080" cy="307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E2FF4B0D-FF16-46A9-9A92-BC94356CC588}" type="slidenum">
              <a:rPr lang="en-US" sz="1399" smtClean="0">
                <a:solidFill>
                  <a:schemeClr val="bg1"/>
                </a:solidFill>
              </a:rPr>
              <a:pPr algn="ctr"/>
              <a:t>‹#›</a:t>
            </a:fld>
            <a:endParaRPr lang="en-US" sz="1399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B03BB5-143E-4BA7-957E-F403E1A71EBD}"/>
              </a:ext>
            </a:extLst>
          </p:cNvPr>
          <p:cNvSpPr/>
          <p:nvPr userDrawn="1"/>
        </p:nvSpPr>
        <p:spPr>
          <a:xfrm>
            <a:off x="3" y="2"/>
            <a:ext cx="14631987" cy="10255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80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9A45533-F3B5-9544-BC16-B295E64153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67494" y="305594"/>
            <a:ext cx="12646152" cy="720000"/>
          </a:xfrm>
        </p:spPr>
        <p:txBody>
          <a:bodyPr>
            <a:normAutofit/>
          </a:bodyPr>
          <a:lstStyle>
            <a:lvl1pPr>
              <a:defRPr sz="3600" b="1" baseline="0">
                <a:solidFill>
                  <a:srgbClr val="29537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title</a:t>
            </a:r>
          </a:p>
        </p:txBody>
      </p:sp>
      <p:pic>
        <p:nvPicPr>
          <p:cNvPr id="2" name="Google Shape;55;p27">
            <a:extLst>
              <a:ext uri="{FF2B5EF4-FFF2-40B4-BE49-F238E27FC236}">
                <a16:creationId xmlns:a16="http://schemas.microsoft.com/office/drawing/2014/main" id="{44A006F3-37AF-A651-E7CC-ACBD984EB568}"/>
              </a:ext>
            </a:extLst>
          </p:cNvPr>
          <p:cNvPicPr preferRelativeResize="0"/>
          <p:nvPr userDrawn="1"/>
        </p:nvPicPr>
        <p:blipFill>
          <a:blip r:embed="rId3"/>
          <a:srcRect/>
          <a:stretch/>
        </p:blipFill>
        <p:spPr>
          <a:xfrm>
            <a:off x="289581" y="7666383"/>
            <a:ext cx="640080" cy="6400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23039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ontent Slide" userDrawn="1">
  <p:cSld name="6_Content Slide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15;p35">
            <a:extLst>
              <a:ext uri="{FF2B5EF4-FFF2-40B4-BE49-F238E27FC236}">
                <a16:creationId xmlns:a16="http://schemas.microsoft.com/office/drawing/2014/main" id="{FCB5A0C3-CBCB-8B4F-865E-4141AC42592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-4108" y="7735095"/>
            <a:ext cx="14636097" cy="5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17;p35">
            <a:extLst>
              <a:ext uri="{FF2B5EF4-FFF2-40B4-BE49-F238E27FC236}">
                <a16:creationId xmlns:a16="http://schemas.microsoft.com/office/drawing/2014/main" id="{C5258E1D-9F59-DB46-B672-1C97928531CF}"/>
              </a:ext>
            </a:extLst>
          </p:cNvPr>
          <p:cNvSpPr txBox="1"/>
          <p:nvPr userDrawn="1"/>
        </p:nvSpPr>
        <p:spPr>
          <a:xfrm>
            <a:off x="11782087" y="7838822"/>
            <a:ext cx="1920240" cy="295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14" tIns="65294" rIns="130614" bIns="65294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Quattrocento Sans"/>
              <a:buNone/>
            </a:pPr>
            <a:r>
              <a:rPr lang="en-US" sz="1399" b="0" i="0" u="none" strike="noStrike" cap="none">
                <a:solidFill>
                  <a:schemeClr val="lt1"/>
                </a:solidFill>
                <a:latin typeface="Calibri" panose="020F0502020204030204" pitchFamily="34" charset="0"/>
                <a:ea typeface="Quattrocento Sans"/>
                <a:cs typeface="Calibri" panose="020F0502020204030204" pitchFamily="34" charset="0"/>
                <a:sym typeface="Quattrocento Sans"/>
              </a:rPr>
              <a:t>Softdel Confidential</a:t>
            </a:r>
            <a:endParaRPr lang="en-US" sz="1399" b="0" i="0" u="none" strike="noStrike" cap="none">
              <a:solidFill>
                <a:schemeClr val="dk1"/>
              </a:solidFill>
              <a:latin typeface="Calibri" panose="020F0502020204030204" pitchFamily="34" charset="0"/>
              <a:ea typeface="Quattrocento Sans"/>
              <a:cs typeface="Calibri" panose="020F0502020204030204" pitchFamily="34" charset="0"/>
              <a:sym typeface="Quattrocento Sans"/>
            </a:endParaRPr>
          </a:p>
        </p:txBody>
      </p:sp>
      <p:cxnSp>
        <p:nvCxnSpPr>
          <p:cNvPr id="11" name="Google Shape;118;p35">
            <a:extLst>
              <a:ext uri="{FF2B5EF4-FFF2-40B4-BE49-F238E27FC236}">
                <a16:creationId xmlns:a16="http://schemas.microsoft.com/office/drawing/2014/main" id="{1C5D379F-1CA3-0B4E-90E0-923DA4E18567}"/>
              </a:ext>
            </a:extLst>
          </p:cNvPr>
          <p:cNvCxnSpPr/>
          <p:nvPr userDrawn="1"/>
        </p:nvCxnSpPr>
        <p:spPr>
          <a:xfrm rot="5400000">
            <a:off x="13694858" y="7989692"/>
            <a:ext cx="288000" cy="1588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19;p35">
            <a:extLst>
              <a:ext uri="{FF2B5EF4-FFF2-40B4-BE49-F238E27FC236}">
                <a16:creationId xmlns:a16="http://schemas.microsoft.com/office/drawing/2014/main" id="{9C2A2F0D-77A9-1E41-AF52-E0DF2B120447}"/>
              </a:ext>
            </a:extLst>
          </p:cNvPr>
          <p:cNvSpPr txBox="1"/>
          <p:nvPr userDrawn="1"/>
        </p:nvSpPr>
        <p:spPr>
          <a:xfrm>
            <a:off x="13901775" y="7838823"/>
            <a:ext cx="640080" cy="3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18" tIns="45696" rIns="91418" bIns="45696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399">
                <a:solidFill>
                  <a:schemeClr val="lt1"/>
                </a:solidFill>
                <a:latin typeface="Calibri" panose="020F0502020204030204" pitchFamily="34" charset="0"/>
                <a:ea typeface="Quattrocento Sans"/>
                <a:cs typeface="Calibri" panose="020F0502020204030204" pitchFamily="34" charset="0"/>
                <a:sym typeface="Quattrocento Sans"/>
              </a:rPr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sz="1399">
              <a:solidFill>
                <a:schemeClr val="lt1"/>
              </a:solidFill>
              <a:latin typeface="Calibri" panose="020F0502020204030204" pitchFamily="34" charset="0"/>
              <a:ea typeface="Quattrocento Sans"/>
              <a:cs typeface="Calibri" panose="020F0502020204030204" pitchFamily="34" charset="0"/>
              <a:sym typeface="Quattrocento Sans"/>
            </a:endParaRPr>
          </a:p>
        </p:txBody>
      </p:sp>
      <p:pic>
        <p:nvPicPr>
          <p:cNvPr id="5" name="Picture 4" descr="A picture containing graphics, font, graphic design, logo&#10;&#10;Description automatically generated">
            <a:extLst>
              <a:ext uri="{FF2B5EF4-FFF2-40B4-BE49-F238E27FC236}">
                <a16:creationId xmlns:a16="http://schemas.microsoft.com/office/drawing/2014/main" id="{D4AF1C80-B45E-A6DA-E0E4-B301B43B6D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500310" y="49878"/>
            <a:ext cx="2022852" cy="100560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D453081-7556-456B-4AFA-0E97E8656F8E}"/>
              </a:ext>
            </a:extLst>
          </p:cNvPr>
          <p:cNvSpPr/>
          <p:nvPr userDrawn="1"/>
        </p:nvSpPr>
        <p:spPr>
          <a:xfrm rot="16200000">
            <a:off x="1043564" y="435957"/>
            <a:ext cx="75994" cy="1045719"/>
          </a:xfrm>
          <a:prstGeom prst="rect">
            <a:avLst/>
          </a:prstGeom>
          <a:solidFill>
            <a:srgbClr val="646EA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80"/>
          </a:p>
        </p:txBody>
      </p:sp>
      <p:sp>
        <p:nvSpPr>
          <p:cNvPr id="7" name="Google Shape;116;p35">
            <a:extLst>
              <a:ext uri="{FF2B5EF4-FFF2-40B4-BE49-F238E27FC236}">
                <a16:creationId xmlns:a16="http://schemas.microsoft.com/office/drawing/2014/main" id="{BDD4FB45-E8F6-BCCA-100C-0973520DA8B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82344" y="254546"/>
            <a:ext cx="11982537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Calibri"/>
              <a:buNone/>
              <a:defRPr sz="3300" b="1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182352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592">
          <p15:clr>
            <a:srgbClr val="FBAE40"/>
          </p15:clr>
        </p15:guide>
        <p15:guide id="2" pos="4608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961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>
            <a:spLocks noGrp="1"/>
          </p:cNvSpPr>
          <p:nvPr>
            <p:ph type="title"/>
          </p:nvPr>
        </p:nvSpPr>
        <p:spPr>
          <a:xfrm>
            <a:off x="731600" y="329629"/>
            <a:ext cx="13168789" cy="13718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Quattrocento Sans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1"/>
          <p:cNvSpPr txBox="1">
            <a:spLocks noGrp="1"/>
          </p:cNvSpPr>
          <p:nvPr>
            <p:ph type="body" idx="1"/>
          </p:nvPr>
        </p:nvSpPr>
        <p:spPr>
          <a:xfrm>
            <a:off x="731600" y="1920611"/>
            <a:ext cx="13168789" cy="54322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t" anchorCtr="0">
            <a:normAutofit/>
          </a:bodyPr>
          <a:lstStyle>
            <a:lvl1pPr marL="457200" marR="0" lvl="0" indent="-393700" algn="l" rtl="0">
              <a:spcBef>
                <a:spcPts val="52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Char char="•"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1828800" marR="0" lvl="3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2286000" marR="0" lvl="4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»"/>
              <a:defRPr sz="2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2743200" marR="0" lvl="5" indent="-412750" algn="l" rtl="0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Char char="•"/>
              <a:defRPr sz="2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3200400" marR="0" lvl="6" indent="-412750" algn="l" rtl="0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Char char="•"/>
              <a:defRPr sz="2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3657600" marR="0" lvl="7" indent="-412750" algn="l" rtl="0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Char char="•"/>
              <a:defRPr sz="2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4114800" marR="0" lvl="8" indent="-412750" algn="l" rtl="0">
              <a:spcBef>
                <a:spcPts val="58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Arial"/>
              <a:buChar char="•"/>
              <a:defRPr sz="2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2" name="Google Shape;12;p21"/>
          <p:cNvSpPr txBox="1">
            <a:spLocks noGrp="1"/>
          </p:cNvSpPr>
          <p:nvPr>
            <p:ph type="dt" idx="10"/>
          </p:nvPr>
        </p:nvSpPr>
        <p:spPr>
          <a:xfrm>
            <a:off x="1020093" y="7835357"/>
            <a:ext cx="12204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3" name="Google Shape;13;p21"/>
          <p:cNvSpPr txBox="1">
            <a:spLocks noGrp="1"/>
          </p:cNvSpPr>
          <p:nvPr>
            <p:ph type="ftr" idx="11"/>
          </p:nvPr>
        </p:nvSpPr>
        <p:spPr>
          <a:xfrm>
            <a:off x="2449972" y="7835357"/>
            <a:ext cx="109440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6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4" name="Google Shape;14;p21"/>
          <p:cNvSpPr txBox="1">
            <a:spLocks noGrp="1"/>
          </p:cNvSpPr>
          <p:nvPr>
            <p:ph type="sldNum" idx="12"/>
          </p:nvPr>
        </p:nvSpPr>
        <p:spPr>
          <a:xfrm>
            <a:off x="202214" y="7835357"/>
            <a:ext cx="6084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0625" tIns="65300" rIns="130625" bIns="653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L="0" marR="0" lvl="1" indent="0" algn="ct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L="0" marR="0" lvl="2" indent="0" algn="ct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L="0" marR="0" lvl="3" indent="0" algn="ct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L="0" marR="0" lvl="4" indent="0" algn="ct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L="0" marR="0" lvl="5" indent="0" algn="ct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L="0" marR="0" lvl="6" indent="0" algn="ct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L="0" marR="0" lvl="7" indent="0" algn="ct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L="0" marR="0" lvl="8" indent="0" algn="ctr" rtl="0">
              <a:spcBef>
                <a:spcPts val="0"/>
              </a:spcBef>
              <a:buNone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0815878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17" r:id="rId1"/>
    <p:sldLayoutId id="2147483720" r:id="rId2"/>
    <p:sldLayoutId id="2147483707" r:id="rId3"/>
    <p:sldLayoutId id="2147483718" r:id="rId4"/>
    <p:sldLayoutId id="2147483709" r:id="rId5"/>
    <p:sldLayoutId id="2147483710" r:id="rId6"/>
    <p:sldLayoutId id="2147483711" r:id="rId7"/>
    <p:sldLayoutId id="2147483712" r:id="rId8"/>
    <p:sldLayoutId id="2147483715" r:id="rId9"/>
    <p:sldLayoutId id="2147483721" r:id="rId10"/>
    <p:sldLayoutId id="2147483722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 Turbine Predictive Maintenance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5312664"/>
            <a:ext cx="82296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1" dirty="0">
                <a:solidFill>
                  <a:srgbClr val="FFFFFF"/>
                </a:solidFill>
                <a:latin typeface="Calibri"/>
              </a:rPr>
              <a:t>by Umesh Nikam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7452360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8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737360"/>
            <a:ext cx="3108960" cy="4114800"/>
          </a:xfrm>
          <a:prstGeom prst="roundRect">
            <a:avLst>
              <a:gd name="adj" fmla="val 4411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08660" y="3486984"/>
            <a:ext cx="278892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2060"/>
                </a:solidFill>
                <a:latin typeface="Calibri"/>
              </a:rPr>
              <a:t>The Problem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1737360"/>
            <a:ext cx="3108960" cy="4114800"/>
          </a:xfrm>
          <a:prstGeom prst="roundRect">
            <a:avLst>
              <a:gd name="adj" fmla="val 4411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60520" y="3209985"/>
            <a:ext cx="2971800" cy="11695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IN" sz="3800" b="1" i="0" dirty="0">
                <a:solidFill>
                  <a:srgbClr val="002060"/>
                </a:solidFill>
                <a:latin typeface="Calibri"/>
              </a:rPr>
              <a:t>Supported Features</a:t>
            </a:r>
            <a:endParaRPr sz="3800" b="1" i="0" dirty="0">
              <a:solidFill>
                <a:srgbClr val="002060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498080" y="1737360"/>
            <a:ext cx="3108960" cy="4114800"/>
          </a:xfrm>
          <a:prstGeom prst="roundRect">
            <a:avLst>
              <a:gd name="adj" fmla="val 4411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39929" y="3209985"/>
            <a:ext cx="2825262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800" b="1" i="0" dirty="0">
                <a:solidFill>
                  <a:srgbClr val="002060"/>
                </a:solidFill>
                <a:latin typeface="Calibri"/>
              </a:rPr>
              <a:t>Data </a:t>
            </a:r>
            <a:r>
              <a:rPr lang="en-US" sz="3800" b="1" i="0" dirty="0">
                <a:solidFill>
                  <a:srgbClr val="002060"/>
                </a:solidFill>
                <a:latin typeface="Calibri"/>
              </a:rPr>
              <a:t>Insights</a:t>
            </a:r>
            <a:endParaRPr sz="3800" b="1" i="0" dirty="0">
              <a:solidFill>
                <a:srgbClr val="002060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972800" y="1737360"/>
            <a:ext cx="3108960" cy="4114800"/>
          </a:xfrm>
          <a:prstGeom prst="roundRect">
            <a:avLst>
              <a:gd name="adj" fmla="val 4411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292840" y="3486984"/>
            <a:ext cx="246888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002060"/>
                </a:solidFill>
                <a:latin typeface="Calibri"/>
              </a:rPr>
              <a:t>Roadmap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35331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>
                <a:solidFill>
                  <a:srgbClr val="595959"/>
                </a:solidFill>
                <a:latin typeface="Calibri"/>
              </a:rPr>
              <a:t>A gearbox, hydraulic system or pitch motor usually gives a signal before it breaks</a:t>
            </a:r>
            <a:r>
              <a:rPr lang="en-US" sz="1600" b="0" i="0" dirty="0">
                <a:solidFill>
                  <a:srgbClr val="595959"/>
                </a:solidFill>
                <a:latin typeface="Calibri"/>
              </a:rPr>
              <a:t>,</a:t>
            </a:r>
            <a:r>
              <a:rPr sz="1600" b="0" i="0" dirty="0">
                <a:solidFill>
                  <a:srgbClr val="595959"/>
                </a:solidFill>
                <a:latin typeface="Calibri"/>
              </a:rPr>
              <a:t> </a:t>
            </a:r>
            <a:r>
              <a:rPr lang="en-US" sz="1600" b="0" i="0" dirty="0">
                <a:solidFill>
                  <a:srgbClr val="595959"/>
                </a:solidFill>
                <a:latin typeface="Calibri"/>
              </a:rPr>
              <a:t>like </a:t>
            </a:r>
            <a:r>
              <a:rPr sz="1600" b="0" i="0" dirty="0">
                <a:solidFill>
                  <a:srgbClr val="595959"/>
                </a:solidFill>
                <a:latin typeface="Calibri"/>
              </a:rPr>
              <a:t>a slow temperature rise, a pressure drop, a change in vibration.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426720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77240" y="297180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2990088"/>
            <a:ext cx="32522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Turbines sit idle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01568"/>
            <a:ext cx="3810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The turbine stays down while a technician drives out and finds the fault by hand.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1600" y="2743200"/>
            <a:ext cx="426720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10200" y="297180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8840" y="2990088"/>
            <a:ext cx="32522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Emergency repairs cost more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0200" y="3401568"/>
            <a:ext cx="3810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Fixing a part after it breaks costs more than replacing it on a planned visit.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14560" y="2743200"/>
            <a:ext cx="426720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43160" y="297180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800" y="2990088"/>
            <a:ext cx="32522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Parts fail completely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43160" y="3401568"/>
            <a:ext cx="3810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Parts run until they break instead of being swapped while they still had life left.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648B7-EA14-5F71-A3B1-A3D8F3041E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Wind Turbine Architecture</a:t>
            </a: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149C48-3225-E2D7-F27C-F54E58636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185561"/>
            <a:ext cx="12650788" cy="6424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542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Supported Features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4267200" cy="196596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92024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938528"/>
            <a:ext cx="32522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Fault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50008"/>
            <a:ext cx="38100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Flags which of 7 components is showing trouble, from live sensor readings.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1600" y="1691640"/>
            <a:ext cx="4267200" cy="196596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10200" y="192024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840" y="1938528"/>
            <a:ext cx="32522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Remaining life (RUL)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200" y="2350008"/>
            <a:ext cx="38100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Estimates how long a component has left, in days, months or years.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14560" y="1691640"/>
            <a:ext cx="4267200" cy="196596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43160" y="192024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91800" y="1938528"/>
            <a:ext cx="32522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Trend forecasts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43160" y="2350008"/>
            <a:ext cx="38100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Shows where a reading is heading, with a P10 to P90 range.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4267200" cy="196596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77240" y="416052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178808"/>
            <a:ext cx="32522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Live 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590288"/>
            <a:ext cx="38100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Raises an alert the moment a reading or prediction crosses a set limit.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81600" y="3931920"/>
            <a:ext cx="4267200" cy="196596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410200" y="416052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8840" y="4178808"/>
            <a:ext cx="32522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Fleet overview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0200" y="4590288"/>
            <a:ext cx="38100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Every turbine across all three farms on one screen, with health status.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14560" y="3931920"/>
            <a:ext cx="4267200" cy="196596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043160" y="416052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91800" y="4178808"/>
            <a:ext cx="325221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Digital twin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43160" y="4590288"/>
            <a:ext cx="38100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A live view of each turbine, driven by its real sensor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Insights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35331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 dirty="0">
                <a:solidFill>
                  <a:srgbClr val="595959"/>
                </a:solidFill>
                <a:latin typeface="Calibri"/>
              </a:rPr>
              <a:t>Everything is based on a SCADA dataset from three wind farms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468880"/>
            <a:ext cx="31089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83464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1" i="0">
                <a:solidFill>
                  <a:srgbClr val="0089CF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16052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2060"/>
                </a:solidFill>
                <a:latin typeface="Calibri"/>
              </a:rPr>
              <a:t>Turbines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2468880"/>
            <a:ext cx="31089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343400" y="283464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1" i="0">
                <a:solidFill>
                  <a:srgbClr val="0089C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416052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2060"/>
                </a:solidFill>
                <a:latin typeface="Calibri"/>
              </a:rPr>
              <a:t>Wind farms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0" y="2468880"/>
            <a:ext cx="31089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18120" y="283464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1" i="0">
                <a:solidFill>
                  <a:srgbClr val="0089CF"/>
                </a:solidFill>
                <a:latin typeface="Calibri"/>
              </a:rPr>
              <a:t>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4160520"/>
            <a:ext cx="24688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000" b="1" i="0" dirty="0">
                <a:solidFill>
                  <a:srgbClr val="002060"/>
                </a:solidFill>
                <a:latin typeface="Calibri"/>
              </a:rPr>
              <a:t>F</a:t>
            </a:r>
            <a:r>
              <a:rPr sz="2000" b="1" i="0" dirty="0">
                <a:solidFill>
                  <a:srgbClr val="002060"/>
                </a:solidFill>
                <a:latin typeface="Calibri"/>
              </a:rPr>
              <a:t>ailure events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0" y="2468880"/>
            <a:ext cx="31089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292840" y="2834640"/>
            <a:ext cx="24688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1" i="0">
                <a:solidFill>
                  <a:srgbClr val="0089CF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416052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2060"/>
                </a:solidFill>
                <a:latin typeface="Calibri"/>
              </a:rPr>
              <a:t>Component categories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Failure Modes &amp; Effects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548640" y="1499616"/>
            <a:ext cx="310896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728216"/>
            <a:ext cx="457200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5"/>
            <a:ext cx="26517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Gearbox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25496"/>
            <a:ext cx="2651760" cy="1097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Oil leaks or low oil pressure. Gears wear and heat up; oil sensors drift days before shutdown.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1499616"/>
            <a:ext cx="310896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251960" y="1728216"/>
            <a:ext cx="457200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2185415"/>
            <a:ext cx="26517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Hydraulics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825496"/>
            <a:ext cx="2651760" cy="1097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Leaks, worn accumulators or weak pumps. Pressure falls slowly and the pump runs more often.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0" y="1499616"/>
            <a:ext cx="310896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726680" y="1728216"/>
            <a:ext cx="457200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80" y="2185415"/>
            <a:ext cx="26517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Pitch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80" y="2825496"/>
            <a:ext cx="2651760" cy="1097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A blade motor or drive stops responding, so the turbine shuts down for safety.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0" y="1499616"/>
            <a:ext cx="310896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201400" y="1728216"/>
            <a:ext cx="457200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2185415"/>
            <a:ext cx="26517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Generator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2825496"/>
            <a:ext cx="2651760" cy="1097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Bearings or windings wear out. Temperature alone can miss it if output has already dropped.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34256"/>
            <a:ext cx="310896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77240" y="4562856"/>
            <a:ext cx="457200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020056"/>
            <a:ext cx="26517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Transformer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60136"/>
            <a:ext cx="2651760" cy="1097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Overheating or pressure building in the oil. Oil temperature is the best early sign.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4334256"/>
            <a:ext cx="310896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251960" y="4562856"/>
            <a:ext cx="457200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5020056"/>
            <a:ext cx="26517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Rotor Brake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5660136"/>
            <a:ext cx="2651760" cy="1097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Low hydraulic pressure means the brake can't grip. Pressure runs low before the fault.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0" y="4334256"/>
            <a:ext cx="310896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726680" y="4562856"/>
            <a:ext cx="457200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5020056"/>
            <a:ext cx="26517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Bearing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5660136"/>
            <a:ext cx="2651760" cy="1097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The main bearing wears under the rotor's weight. Vibration shows it well before temperature does.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Farm Overview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4267200" cy="4206240"/>
          </a:xfrm>
          <a:prstGeom prst="roundRect">
            <a:avLst>
              <a:gd name="adj" fmla="val 3260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920240"/>
            <a:ext cx="365760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1016" y="1938528"/>
            <a:ext cx="330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Farm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50008"/>
            <a:ext cx="3810000" cy="3383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Hydraulic, gearbox, generator and transformer faults. Matches its documented fault list exactly. No pitch faults at all.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023360"/>
            <a:ext cx="1905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0089CF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905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Turbines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82240" y="4023360"/>
            <a:ext cx="1905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0089CF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82240" y="4892040"/>
            <a:ext cx="1905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Failure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81600" y="1691640"/>
            <a:ext cx="4267200" cy="4206240"/>
          </a:xfrm>
          <a:prstGeom prst="roundRect">
            <a:avLst>
              <a:gd name="adj" fmla="val 3260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10200" y="1920240"/>
            <a:ext cx="365760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3976" y="1938528"/>
            <a:ext cx="330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Farm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0200" y="2350008"/>
            <a:ext cx="3810000" cy="3383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Main bearing damage is the real issue and needs vibration sensors to catch. Some of its events still sit outside the 7 categories.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0200" y="4023360"/>
            <a:ext cx="1905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0089CF"/>
                </a:solidFill>
                <a:latin typeface="Calibri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0200" y="4892040"/>
            <a:ext cx="1905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Turbines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023360"/>
            <a:ext cx="1905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0089C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892040"/>
            <a:ext cx="1905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Failure events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14560" y="1691640"/>
            <a:ext cx="4267200" cy="4206240"/>
          </a:xfrm>
          <a:prstGeom prst="roundRect">
            <a:avLst>
              <a:gd name="adj" fmla="val 3260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043160" y="1920240"/>
            <a:ext cx="365760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6936" y="1938528"/>
            <a:ext cx="330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Farm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3160" y="2350008"/>
            <a:ext cx="3810000" cy="3383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Pitch and blade-angle faults lead, with 8 events. It controls each of its three blades separately, so this fits.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3160" y="4023360"/>
            <a:ext cx="1905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0089CF"/>
                </a:solidFill>
                <a:latin typeface="Calibri"/>
              </a:rPr>
              <a:t>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43160" y="4892040"/>
            <a:ext cx="1905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Turbines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48160" y="4023360"/>
            <a:ext cx="1905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400" b="1" i="0">
                <a:solidFill>
                  <a:srgbClr val="0089CF"/>
                </a:solidFill>
                <a:latin typeface="Calibri"/>
              </a:rPr>
              <a:t>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48160" y="4892040"/>
            <a:ext cx="1905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Failure events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Solution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548640" y="1691640"/>
            <a:ext cx="310896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92024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26517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Collect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017520"/>
            <a:ext cx="2651760" cy="1097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 dirty="0">
                <a:solidFill>
                  <a:srgbClr val="595959"/>
                </a:solidFill>
                <a:latin typeface="Calibri"/>
              </a:rPr>
              <a:t>Each turbine sends temperature, pressure and vibration readings.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1691640"/>
            <a:ext cx="310896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251960" y="192024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2377440"/>
            <a:ext cx="26517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3017520"/>
            <a:ext cx="2651760" cy="1097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Readings are checked, cleaned and grouped by component (bronze, silver, gold).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0" y="1691640"/>
            <a:ext cx="310896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726680" y="192024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80" y="2377440"/>
            <a:ext cx="26517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Predict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80" y="3017520"/>
            <a:ext cx="2651760" cy="1097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Trained models flag faults and estimate remaining life.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972800" y="1691640"/>
            <a:ext cx="310896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C8D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201400" y="1920240"/>
            <a:ext cx="420624" cy="274320"/>
          </a:xfrm>
          <a:prstGeom prst="roundRect">
            <a:avLst>
              <a:gd name="adj" fmla="val 16666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01400" y="2377440"/>
            <a:ext cx="26517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02060"/>
                </a:solidFill>
                <a:latin typeface="Calibri"/>
              </a:rPr>
              <a:t>Show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3017520"/>
            <a:ext cx="2651760" cy="10972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Dashboard shows fleet health, forecasts and alerts in one place.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5312664"/>
            <a:ext cx="82296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1" dirty="0">
                <a:solidFill>
                  <a:srgbClr val="FFFFFF"/>
                </a:solidFill>
                <a:latin typeface="Calibri"/>
              </a:rPr>
              <a:t>Question</a:t>
            </a:r>
            <a:r>
              <a:rPr lang="en-US" sz="2000" b="1" i="1" dirty="0">
                <a:solidFill>
                  <a:srgbClr val="FFFFFF"/>
                </a:solidFill>
                <a:latin typeface="Calibri"/>
              </a:rPr>
              <a:t>s</a:t>
            </a:r>
            <a:endParaRPr sz="2000" b="1" i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67512" y="7452360"/>
            <a:ext cx="3657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8 October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Status and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892807"/>
            <a:ext cx="4267200" cy="3931920"/>
          </a:xfrm>
          <a:prstGeom prst="roundRect">
            <a:avLst>
              <a:gd name="adj" fmla="val 6976"/>
            </a:avLst>
          </a:prstGeom>
          <a:solidFill>
            <a:srgbClr val="EAF4FC"/>
          </a:solidFill>
          <a:ln w="12700">
            <a:solidFill>
              <a:srgbClr val="008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31520" y="2075688"/>
            <a:ext cx="3901440" cy="457200"/>
          </a:xfrm>
          <a:prstGeom prst="roundRect">
            <a:avLst>
              <a:gd name="adj" fmla="val 10000"/>
            </a:avLst>
          </a:prstGeom>
          <a:solidFill>
            <a:srgbClr val="006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2075688"/>
            <a:ext cx="3901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07208"/>
            <a:ext cx="362712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74320" indent="-274320"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595959"/>
                </a:solidFill>
                <a:latin typeface="Calibri"/>
              </a:rPr>
              <a:t>Full stack running locally on Docker</a:t>
            </a:r>
          </a:p>
          <a:p>
            <a:pPr marL="274320" indent="-274320"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595959"/>
                </a:solidFill>
                <a:latin typeface="Calibri"/>
              </a:rPr>
              <a:t>Real pipeline and model training on all 3 farms</a:t>
            </a:r>
          </a:p>
          <a:p>
            <a:pPr marL="274320" indent="-274320"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595959"/>
                </a:solidFill>
                <a:latin typeface="Calibri"/>
              </a:rPr>
              <a:t>Dashboard with RUL, forecasts and alerts</a:t>
            </a:r>
          </a:p>
          <a:p>
            <a:pPr marL="274320" indent="-274320"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595959"/>
                </a:solidFill>
                <a:latin typeface="Calibri"/>
              </a:rPr>
              <a:t>Digital twin shows live data (not a physics model)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1600" y="1892807"/>
            <a:ext cx="4267200" cy="3931920"/>
          </a:xfrm>
          <a:prstGeom prst="roundRect">
            <a:avLst>
              <a:gd name="adj" fmla="val 6976"/>
            </a:avLst>
          </a:prstGeom>
          <a:solidFill>
            <a:srgbClr val="EAF4FC"/>
          </a:solidFill>
          <a:ln w="12700">
            <a:solidFill>
              <a:srgbClr val="008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364480" y="2075688"/>
            <a:ext cx="3901440" cy="457200"/>
          </a:xfrm>
          <a:prstGeom prst="roundRect">
            <a:avLst>
              <a:gd name="adj" fmla="val 10000"/>
            </a:avLst>
          </a:prstGeom>
          <a:solidFill>
            <a:srgbClr val="0067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64480" y="2075688"/>
            <a:ext cx="3901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1640" y="2807208"/>
            <a:ext cx="362712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74320" indent="-274320"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595959"/>
                </a:solidFill>
                <a:latin typeface="Calibri"/>
              </a:rPr>
              <a:t>Deploy the pipeline to AWS</a:t>
            </a:r>
          </a:p>
          <a:p>
            <a:pPr marL="274320" indent="-274320"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595959"/>
                </a:solidFill>
                <a:latin typeface="Calibri"/>
              </a:rPr>
              <a:t>Retrain as new fault events come in</a:t>
            </a:r>
          </a:p>
          <a:p>
            <a:pPr marL="274320" indent="-274320"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595959"/>
                </a:solidFill>
                <a:latin typeface="Calibri"/>
              </a:rPr>
              <a:t>Better vibration features for Farm B bearings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14560" y="1892807"/>
            <a:ext cx="4267200" cy="3931920"/>
          </a:xfrm>
          <a:prstGeom prst="roundRect">
            <a:avLst>
              <a:gd name="adj" fmla="val 6976"/>
            </a:avLst>
          </a:prstGeom>
          <a:solidFill>
            <a:srgbClr val="EAF4FC"/>
          </a:solidFill>
          <a:ln w="12700">
            <a:solidFill>
              <a:srgbClr val="008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997440" y="2075688"/>
            <a:ext cx="3901440" cy="45720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997440" y="2075688"/>
            <a:ext cx="3901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Future Phase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2807208"/>
            <a:ext cx="362712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74320" indent="-274320"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595959"/>
                </a:solidFill>
                <a:latin typeface="Calibri"/>
              </a:rPr>
              <a:t>Work orders linked to alerts</a:t>
            </a:r>
          </a:p>
          <a:p>
            <a:pPr marL="274320" indent="-274320"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595959"/>
                </a:solidFill>
                <a:latin typeface="Calibri"/>
              </a:rPr>
              <a:t>Maintenance scheduling from RUL</a:t>
            </a:r>
          </a:p>
          <a:p>
            <a:pPr marL="274320" indent="-274320" algn="l">
              <a:spcAft>
                <a:spcPts val="800"/>
              </a:spcAft>
              <a:buChar char="•"/>
            </a:pPr>
            <a:r>
              <a:rPr sz="1500" b="0" i="0">
                <a:solidFill>
                  <a:srgbClr val="595959"/>
                </a:solidFill>
                <a:latin typeface="Calibri"/>
              </a:rPr>
              <a:t>More sensor types and farms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7_Office Theme">
  <a:themeElements>
    <a:clrScheme name="Custom 3">
      <a:dk1>
        <a:srgbClr val="000000"/>
      </a:dk1>
      <a:lt1>
        <a:srgbClr val="FFFFFF"/>
      </a:lt1>
      <a:dk2>
        <a:srgbClr val="002060"/>
      </a:dk2>
      <a:lt2>
        <a:srgbClr val="629AA9"/>
      </a:lt2>
      <a:accent1>
        <a:srgbClr val="0089CF"/>
      </a:accent1>
      <a:accent2>
        <a:srgbClr val="FFE100"/>
      </a:accent2>
      <a:accent3>
        <a:srgbClr val="A3CE44"/>
      </a:accent3>
      <a:accent4>
        <a:srgbClr val="BD2559"/>
      </a:accent4>
      <a:accent5>
        <a:srgbClr val="00ACED"/>
      </a:accent5>
      <a:accent6>
        <a:srgbClr val="F0824B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75403BC-9259-46E8-8A20-5F91A4B3544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3da0d44f-0b75-406a-b0de-f4c3ce9416ce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b2f22ba-1275-46be-9c75-9a683ad42ba8">
      <Terms xmlns="http://schemas.microsoft.com/office/infopath/2007/PartnerControls"/>
    </lcf76f155ced4ddcb4097134ff3c332f>
    <TaxCatchAll xmlns="46026ffc-e8e1-4973-9464-af7afd38654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640CD405B47E844BD478B1171C607EC" ma:contentTypeVersion="23" ma:contentTypeDescription="Create a new document." ma:contentTypeScope="" ma:versionID="e8517939fc0a74c3e52071105409e02c">
  <xsd:schema xmlns:xsd="http://www.w3.org/2001/XMLSchema" xmlns:xs="http://www.w3.org/2001/XMLSchema" xmlns:p="http://schemas.microsoft.com/office/2006/metadata/properties" xmlns:ns2="ab2f22ba-1275-46be-9c75-9a683ad42ba8" xmlns:ns3="46026ffc-e8e1-4973-9464-af7afd386540" targetNamespace="http://schemas.microsoft.com/office/2006/metadata/properties" ma:root="true" ma:fieldsID="fda65656466e6fd8997eecf6fa584e82" ns2:_="" ns3:_="">
    <xsd:import namespace="ab2f22ba-1275-46be-9c75-9a683ad42ba8"/>
    <xsd:import namespace="46026ffc-e8e1-4973-9464-af7afd3865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2f22ba-1275-46be-9c75-9a683ad42b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MediaServiceAutoTags" ma:internalName="MediaServiceAutoTags" ma:readOnly="true">
      <xsd:simpleType>
        <xsd:restriction base="dms:Text"/>
      </xsd:simpleType>
    </xsd:element>
    <xsd:element name="MediaServiceOCR" ma:index="13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db7a24fd-782d-4b15-b1b1-b3586527129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026ffc-e8e1-4973-9464-af7afd386540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b452a674-d2d9-4709-9954-c7318daa2828}" ma:internalName="TaxCatchAll" ma:showField="CatchAllData" ma:web="46026ffc-e8e1-4973-9464-af7afd3865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090E70D-89C3-40AA-8541-88A0202B52B0}">
  <ds:schemaRefs>
    <ds:schemaRef ds:uri="46026ffc-e8e1-4973-9464-af7afd386540"/>
    <ds:schemaRef ds:uri="ab2f22ba-1275-46be-9c75-9a683ad42ba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3868F1BA-7762-4395-AC4D-7B0A960B8116}">
  <ds:schemaRefs>
    <ds:schemaRef ds:uri="46026ffc-e8e1-4973-9464-af7afd386540"/>
    <ds:schemaRef ds:uri="ab2f22ba-1275-46be-9c75-9a683ad42ba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2CBD1BA7-9CC8-4A7F-B495-4B12E965CFA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621</Words>
  <Application>Microsoft Office PowerPoint</Application>
  <PresentationFormat>Custom</PresentationFormat>
  <Paragraphs>123</Paragraphs>
  <Slides>11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Segoe UI</vt:lpstr>
      <vt:lpstr>Calibri</vt:lpstr>
      <vt:lpstr>Quattrocento Sans</vt:lpstr>
      <vt:lpstr>7_Office Theme</vt:lpstr>
      <vt:lpstr>Wind Turbine Predictive Maintenance Platform</vt:lpstr>
      <vt:lpstr>Agenda</vt:lpstr>
      <vt:lpstr>The Problem</vt:lpstr>
      <vt:lpstr>Wind Turbine Architecture</vt:lpstr>
      <vt:lpstr>Supported Features</vt:lpstr>
      <vt:lpstr>Data Insights</vt:lpstr>
      <vt:lpstr>Failure Modes &amp; Effects</vt:lpstr>
      <vt:lpstr>Farm Overview</vt:lpstr>
      <vt:lpstr>Solution</vt:lpstr>
      <vt:lpstr>Thank You</vt:lpstr>
      <vt:lpstr>Status and Roadmap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Fieldpiece Warranty Management Portal - Client demo</dc:title>
  <dc:creator>Softdel</dc:creator>
  <cp:lastModifiedBy>Ekta Sonawane</cp:lastModifiedBy>
  <cp:revision>4</cp:revision>
  <dcterms:modified xsi:type="dcterms:W3CDTF">2026-10-08T07:52:52Z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0x010100C640CD405B47E844BD478B1171C607EC</vt:lpwstr>
  </property>
  <property fmtid="{D5CDD505-2E9C-101B-9397-08002B2CF9AE}" pid="3" name="AuthorIds_UIVersion_8704">
    <vt:lpwstr>16</vt:lpwstr>
  </property>
  <property fmtid="{D5CDD505-2E9C-101B-9397-08002B2CF9AE}" pid="4" name="AuthorIds_UIVersion_9728">
    <vt:lpwstr>16</vt:lpwstr>
  </property>
  <property fmtid="{D5CDD505-2E9C-101B-9397-08002B2CF9AE}" pid="5" name="MediaServiceImageTags">
    <vt:lpwstr/>
  </property>
</Properties>
</file>